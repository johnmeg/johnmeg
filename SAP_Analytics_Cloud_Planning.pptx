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914400" y="4297680"/>
            <a:ext cx="14630400" cy="3657600"/>
          </a:xfrm>
          <a:prstGeom prst="parallelogram">
            <a:avLst/>
          </a:prstGeom>
          <a:solidFill>
            <a:srgbClr val="0C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188720"/>
            <a:ext cx="3291840" cy="3291840"/>
          </a:xfrm>
          <a:prstGeom prst="ellipse">
            <a:avLst/>
          </a:prstGeom>
          <a:solidFill>
            <a:srgbClr val="0F3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480560"/>
            <a:ext cx="2194560" cy="2194560"/>
          </a:xfrm>
          <a:prstGeom prst="ellipse">
            <a:avLst/>
          </a:prstGeom>
          <a:solidFill>
            <a:srgbClr val="1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60120"/>
            <a:ext cx="146304" cy="822960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9144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A9B0"/>
                </a:solidFill>
                <a:latin typeface="Segoe UI Semibold"/>
              </a:rPr>
              <a:t>SOLUCIÓN DE PLANIFICACIÓN EMPRESARIAL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9784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 Semibold"/>
              </a:rPr>
              <a:t>SAP Analytics Cloud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F5B241"/>
                </a:solidFill>
                <a:latin typeface="Segoe UI Light"/>
              </a:rPr>
              <a:t>Enfoque en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70332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7D6E3"/>
                </a:solidFill>
                <a:latin typeface="Segoe UI"/>
              </a:rPr>
              <a:t>Planificación conectada, colaborativa e inteligente para Finanzas, Ventas y Recursos Humanos en una única plataforma en la nube.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3856" y="5212080"/>
            <a:ext cx="1828800" cy="475488"/>
          </a:xfrm>
          <a:prstGeom prst="roundRect">
            <a:avLst/>
          </a:prstGeom>
          <a:noFill/>
          <a:ln w="15875">
            <a:solidFill>
              <a:srgbClr val="0FA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521208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Planificación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5536" y="5212080"/>
            <a:ext cx="1828800" cy="475488"/>
          </a:xfrm>
          <a:prstGeom prst="roundRect">
            <a:avLst/>
          </a:prstGeom>
          <a:noFill/>
          <a:ln w="15875">
            <a:solidFill>
              <a:srgbClr val="0FA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45536" y="521208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Análisis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7216" y="5212080"/>
            <a:ext cx="1828800" cy="475488"/>
          </a:xfrm>
          <a:prstGeom prst="roundRect">
            <a:avLst/>
          </a:prstGeom>
          <a:noFill/>
          <a:ln w="15875">
            <a:solidFill>
              <a:srgbClr val="0FA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521208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60807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CAD"/>
                </a:solidFill>
                <a:latin typeface="Segoe UI"/>
              </a:rPr>
              <a:t>Presentación profesional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463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128016" cy="640080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A9B0"/>
                </a:solidFill>
                <a:latin typeface="Segoe UI Semibold"/>
              </a:rPr>
              <a:t>CONTENIDO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14300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Agenda de la sesión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949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9CBDA"/>
                </a:solidFill>
                <a:latin typeface="Segoe UI"/>
              </a:rPr>
              <a:t>Un recorrido desde la visión general de la plataforma hasta las capacidades específicas de Planning.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868680"/>
            <a:ext cx="722376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81728" y="996696"/>
            <a:ext cx="548640" cy="548640"/>
          </a:xfrm>
          <a:prstGeom prst="round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9966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98755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¿Qué es SAP Analytics Cloud?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3258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Plataforma y propuesta de valor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1783080"/>
            <a:ext cx="722376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81728" y="1911096"/>
            <a:ext cx="548640" cy="548640"/>
          </a:xfrm>
          <a:prstGeom prst="round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19110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90195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Los tres pilares de la plataforma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2402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BI, Planning y Predictive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697480"/>
            <a:ext cx="722376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81728" y="2825496"/>
            <a:ext cx="548640" cy="548640"/>
          </a:xfrm>
          <a:prstGeom prst="round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8" y="28254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281635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¿Qué es SAC Planning?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31546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Concepto y alcance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80" y="3611880"/>
            <a:ext cx="722376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81728" y="3739896"/>
            <a:ext cx="548640" cy="548640"/>
          </a:xfrm>
          <a:prstGeom prst="round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8" y="37398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373075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Capacidades clave de Planning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0690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Funcionalidades diferenciadoras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0" y="4526280"/>
            <a:ext cx="722376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681728" y="4654296"/>
            <a:ext cx="548640" cy="548640"/>
          </a:xfrm>
          <a:prstGeom prst="round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46542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464515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El ciclo de planificación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80" y="49834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Del dato a la decisión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26280" y="5440680"/>
            <a:ext cx="722376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81728" y="5568696"/>
            <a:ext cx="548640" cy="548640"/>
          </a:xfrm>
          <a:prstGeom prst="round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81728" y="55686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80" y="555955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Casos de uso y beneficios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58978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FP&amp;A, ventas y RR. HH.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CAD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A9CAD"/>
                </a:solidFill>
                <a:latin typeface="Segoe UI Semibold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28016" cy="566928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6EC7"/>
                </a:solidFill>
                <a:latin typeface="Segoe UI Semibold"/>
              </a:rPr>
              <a:t>VISIÓN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A3E"/>
                </a:solidFill>
                <a:latin typeface="Segoe UI Semibold"/>
              </a:rPr>
              <a:t>¿Qué es SAP Analytics Cloud?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50" b="0">
                <a:solidFill>
                  <a:srgbClr val="132A3E"/>
                </a:solidFill>
                <a:latin typeface="Segoe UI"/>
              </a:rPr>
              <a:t>SAP Analytics Cloud (SAC) es la solución SaaS de análisis de SAP que reúne, en un único entorno en la nube, las capacidades de inteligencia de negocio, planificación empresarial y análisis predictivo.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>
                <a:solidFill>
                  <a:srgbClr val="132A3E"/>
                </a:solidFill>
                <a:latin typeface="Segoe UI"/>
              </a:rPr>
              <a:t/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B6B7B"/>
                </a:solidFill>
                <a:latin typeface="Segoe UI"/>
              </a:rPr>
              <a:t>Su propuesta central es eliminar los silos entre el reporting del pasado y la planificación del futuro: los mismos datos, modelos y usuarios trabajan sobre una sola plataforma de “confianza única”.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691640"/>
            <a:ext cx="4572000" cy="4160520"/>
          </a:xfrm>
          <a:prstGeom prst="roundRect">
            <a:avLst/>
          </a:prstGeom>
          <a:solidFill>
            <a:srgbClr val="0A2A43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903720" y="1691640"/>
            <a:ext cx="4572000" cy="109728"/>
          </a:xfrm>
          <a:prstGeom prst="round2Same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965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A9B0"/>
                </a:solidFill>
                <a:latin typeface="Segoe UI Semibold"/>
              </a:rPr>
              <a:t>EN POCAS PALABRAS</a:t>
            </a:r>
          </a:p>
        </p:txBody>
      </p:sp>
      <p:sp>
        <p:nvSpPr>
          <p:cNvPr id="9" name="Oval 8"/>
          <p:cNvSpPr/>
          <p:nvPr/>
        </p:nvSpPr>
        <p:spPr>
          <a:xfrm>
            <a:off x="7269480" y="2423160"/>
            <a:ext cx="365760" cy="36576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4231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0487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100% nube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1576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Solución SaaS, sin infraestructura que mantener.</a:t>
            </a:r>
          </a:p>
        </p:txBody>
      </p:sp>
      <p:sp>
        <p:nvSpPr>
          <p:cNvPr id="13" name="Oval 12"/>
          <p:cNvSpPr/>
          <p:nvPr/>
        </p:nvSpPr>
        <p:spPr>
          <a:xfrm>
            <a:off x="7269480" y="3291840"/>
            <a:ext cx="365760" cy="36576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9184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27355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Todo en uno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58444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Analítica, planificación y predicción integradas.</a:t>
            </a:r>
          </a:p>
        </p:txBody>
      </p:sp>
      <p:sp>
        <p:nvSpPr>
          <p:cNvPr id="17" name="Oval 16"/>
          <p:cNvSpPr/>
          <p:nvPr/>
        </p:nvSpPr>
        <p:spPr>
          <a:xfrm>
            <a:off x="7269480" y="4160520"/>
            <a:ext cx="365760" cy="36576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41605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14223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Colaborativa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5312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Múltiples usuarios y áreas sobre un único modelo.</a:t>
            </a:r>
          </a:p>
        </p:txBody>
      </p:sp>
      <p:sp>
        <p:nvSpPr>
          <p:cNvPr id="21" name="Oval 20"/>
          <p:cNvSpPr/>
          <p:nvPr/>
        </p:nvSpPr>
        <p:spPr>
          <a:xfrm>
            <a:off x="7269480" y="5029200"/>
            <a:ext cx="365760" cy="36576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50292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01091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Conectada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32180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Datos en vivo o importados de SAP y de terceros.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92040"/>
            <a:ext cx="56692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92040"/>
            <a:ext cx="109728" cy="960120"/>
          </a:xfrm>
          <a:prstGeom prst="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0292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006EC7"/>
                </a:solidFill>
                <a:latin typeface="Segoe UI Semibold"/>
              </a:rPr>
              <a:t>Una única fuente de la verdad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Reporting, planes y previsiones comparten datos y definiciones.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CAD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A9CAD"/>
                </a:solidFill>
                <a:latin typeface="Segoe UI Semibold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28016" cy="566928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6EC7"/>
                </a:solidFill>
                <a:latin typeface="Segoe UI Semibold"/>
              </a:rPr>
              <a:t>ARQUITECTURA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A3E"/>
                </a:solidFill>
                <a:latin typeface="Segoe UI Semibold"/>
              </a:rPr>
              <a:t>Los tres pilares de la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B6B7B"/>
                </a:solidFill>
                <a:latin typeface="Segoe UI"/>
              </a:rPr>
              <a:t>SAC integra tres disciplinas analíticas que tradicionalmente vivían en herramientas separadas.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3502152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777240" y="2148840"/>
            <a:ext cx="3502152" cy="128016"/>
          </a:xfrm>
          <a:prstGeom prst="round2Same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532888"/>
            <a:ext cx="777240" cy="777240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32888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28620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A3E"/>
                </a:solidFill>
                <a:latin typeface="Segoe UI Semibold"/>
              </a:rPr>
              <a:t>Business Intelligence</a:t>
            </a:r>
          </a:p>
        </p:txBody>
      </p:sp>
      <p:sp>
        <p:nvSpPr>
          <p:cNvPr id="11" name="Oval 10"/>
          <p:cNvSpPr/>
          <p:nvPr/>
        </p:nvSpPr>
        <p:spPr>
          <a:xfrm>
            <a:off x="1143000" y="4187952"/>
            <a:ext cx="118872" cy="118872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4114800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Cuadros de mando y reporting</a:t>
            </a:r>
          </a:p>
        </p:txBody>
      </p:sp>
      <p:sp>
        <p:nvSpPr>
          <p:cNvPr id="13" name="Oval 12"/>
          <p:cNvSpPr/>
          <p:nvPr/>
        </p:nvSpPr>
        <p:spPr>
          <a:xfrm>
            <a:off x="1143000" y="4663440"/>
            <a:ext cx="118872" cy="118872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9032" y="4590288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Exploración visual de datos</a:t>
            </a:r>
          </a:p>
        </p:txBody>
      </p:sp>
      <p:sp>
        <p:nvSpPr>
          <p:cNvPr id="15" name="Oval 14"/>
          <p:cNvSpPr/>
          <p:nvPr/>
        </p:nvSpPr>
        <p:spPr>
          <a:xfrm>
            <a:off x="1143000" y="5138928"/>
            <a:ext cx="118872" cy="118872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9032" y="5065776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Historias interactivas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07992" y="1965960"/>
            <a:ext cx="3502152" cy="3977639"/>
          </a:xfrm>
          <a:prstGeom prst="roundRect">
            <a:avLst/>
          </a:prstGeom>
          <a:solidFill>
            <a:srgbClr val="0A2A43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507992" y="1965960"/>
            <a:ext cx="3502152" cy="128016"/>
          </a:xfrm>
          <a:prstGeom prst="round2SameRect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28032" y="2350008"/>
            <a:ext cx="777240" cy="77724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032" y="2350008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PL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8032" y="3337560"/>
            <a:ext cx="28620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Planning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8032" y="3813048"/>
            <a:ext cx="28620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B241"/>
                </a:solidFill>
                <a:latin typeface="Segoe UI Semibold"/>
              </a:rPr>
              <a:t>● NUESTRO FOCO</a:t>
            </a:r>
          </a:p>
        </p:txBody>
      </p:sp>
      <p:sp>
        <p:nvSpPr>
          <p:cNvPr id="23" name="Oval 22"/>
          <p:cNvSpPr/>
          <p:nvPr/>
        </p:nvSpPr>
        <p:spPr>
          <a:xfrm>
            <a:off x="4873752" y="4325112"/>
            <a:ext cx="118872" cy="118872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9784" y="4251960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DE7F0"/>
                </a:solidFill>
                <a:latin typeface="Segoe UI"/>
              </a:rPr>
              <a:t>Presupuestos y forecasts</a:t>
            </a:r>
          </a:p>
        </p:txBody>
      </p:sp>
      <p:sp>
        <p:nvSpPr>
          <p:cNvPr id="25" name="Oval 24"/>
          <p:cNvSpPr/>
          <p:nvPr/>
        </p:nvSpPr>
        <p:spPr>
          <a:xfrm>
            <a:off x="4873752" y="4800600"/>
            <a:ext cx="118872" cy="118872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4727448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DE7F0"/>
                </a:solidFill>
                <a:latin typeface="Segoe UI"/>
              </a:rPr>
              <a:t>Escenarios y simulaciones</a:t>
            </a:r>
          </a:p>
        </p:txBody>
      </p:sp>
      <p:sp>
        <p:nvSpPr>
          <p:cNvPr id="27" name="Oval 26"/>
          <p:cNvSpPr/>
          <p:nvPr/>
        </p:nvSpPr>
        <p:spPr>
          <a:xfrm>
            <a:off x="4873752" y="5276088"/>
            <a:ext cx="118872" cy="118872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9784" y="5202936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DE7F0"/>
                </a:solidFill>
                <a:latin typeface="Segoe UI"/>
              </a:rPr>
              <a:t>Planificación colaborativa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38744" y="2148840"/>
            <a:ext cx="3502152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8238744" y="2148840"/>
            <a:ext cx="3502152" cy="128016"/>
          </a:xfrm>
          <a:prstGeom prst="round2Same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58784" y="2532888"/>
            <a:ext cx="777240" cy="777240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2532888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520440"/>
            <a:ext cx="28620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A3E"/>
                </a:solidFill>
                <a:latin typeface="Segoe UI Semibold"/>
              </a:rPr>
              <a:t>Predictive &amp; IA</a:t>
            </a:r>
          </a:p>
        </p:txBody>
      </p:sp>
      <p:sp>
        <p:nvSpPr>
          <p:cNvPr id="34" name="Oval 33"/>
          <p:cNvSpPr/>
          <p:nvPr/>
        </p:nvSpPr>
        <p:spPr>
          <a:xfrm>
            <a:off x="8604504" y="4187952"/>
            <a:ext cx="118872" cy="118872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0536" y="4114800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Smart Predict y forecast</a:t>
            </a:r>
          </a:p>
        </p:txBody>
      </p:sp>
      <p:sp>
        <p:nvSpPr>
          <p:cNvPr id="36" name="Oval 35"/>
          <p:cNvSpPr/>
          <p:nvPr/>
        </p:nvSpPr>
        <p:spPr>
          <a:xfrm>
            <a:off x="8604504" y="4663440"/>
            <a:ext cx="118872" cy="118872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0536" y="4590288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Insights automáticos</a:t>
            </a:r>
          </a:p>
        </p:txBody>
      </p:sp>
      <p:sp>
        <p:nvSpPr>
          <p:cNvPr id="38" name="Oval 37"/>
          <p:cNvSpPr/>
          <p:nvPr/>
        </p:nvSpPr>
        <p:spPr>
          <a:xfrm>
            <a:off x="8604504" y="5138928"/>
            <a:ext cx="118872" cy="118872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0536" y="5065776"/>
            <a:ext cx="2587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Asistente 'Just Ask'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CAD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A9CAD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0791" cy="6858000"/>
          </a:xfrm>
          <a:prstGeom prst="rect">
            <a:avLst/>
          </a:prstGeom>
          <a:solidFill>
            <a:srgbClr val="0C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54864" cy="6858000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128016" cy="566928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A9B0"/>
                </a:solidFill>
                <a:latin typeface="Segoe UI Semibold"/>
              </a:rPr>
              <a:t>EL FOCO DE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¿Qué es SAP Analytics Cloud Planning?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949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DDE7F0"/>
                </a:solidFill>
                <a:latin typeface="Segoe UI"/>
              </a:rPr>
              <a:t>Es el módulo de planificación empresarial de SAC. Permite crear, gestionar y colaborar en presupuestos, previsiones y planes operativos, trabajando directamente sobre los datos analíticos, sin exportar a hojas de cálculo.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A9B0"/>
                </a:solidFill>
                <a:latin typeface="Segoe UI Semibold"/>
              </a:rPr>
              <a:t>LO QUE HACE DIFERENTE A SAC PLANNING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794760"/>
            <a:ext cx="384048" cy="384048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76472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Datos y plan, unidos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078224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9CBDA"/>
                </a:solidFill>
                <a:latin typeface="Segoe UI"/>
              </a:rPr>
              <a:t>El plan se construye sobre el modelo analítico real.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453128"/>
            <a:ext cx="384048" cy="384048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531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Fin de las hojas sueltas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36592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9CBDA"/>
                </a:solidFill>
                <a:latin typeface="Segoe UI"/>
              </a:rPr>
              <a:t>Reemplaza los Excel dispersos por un modelo gobernado.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111496"/>
            <a:ext cx="384048" cy="384048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1114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9320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Colaboración en vivo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39496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9CBDA"/>
                </a:solidFill>
                <a:latin typeface="Segoe UI"/>
              </a:rPr>
              <a:t>Tareas, comentarios y flujos de aprobación integrados.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769864"/>
            <a:ext cx="384048" cy="384048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76986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751576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Segoe UI Semibold"/>
              </a:rPr>
              <a:t>Del análisis a la acción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60533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B9CBDA"/>
                </a:solidFill>
                <a:latin typeface="Segoe UI"/>
              </a:rPr>
              <a:t>Se analiza el pasado y se planifica el futuro en el mismo sitio.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178308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5B241"/>
                </a:solidFill>
                <a:latin typeface="Segoe UI Semibold"/>
              </a:rPr>
              <a:t>EN LA PRÁCTICA</a:t>
            </a:r>
          </a:p>
        </p:txBody>
      </p:sp>
      <p:sp>
        <p:nvSpPr>
          <p:cNvPr id="26" name="Oval 25"/>
          <p:cNvSpPr/>
          <p:nvPr/>
        </p:nvSpPr>
        <p:spPr>
          <a:xfrm>
            <a:off x="8458200" y="2286000"/>
            <a:ext cx="457200" cy="457200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2860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A2A43"/>
                </a:solidFill>
                <a:latin typeface="Segoe UI Semibol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25856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Recopila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786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datos reales y supuestos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68512" y="2761488"/>
            <a:ext cx="32004" cy="457200"/>
          </a:xfrm>
          <a:prstGeom prst="rect">
            <a:avLst/>
          </a:prstGeom>
          <a:solidFill>
            <a:srgbClr val="2A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58200" y="3218688"/>
            <a:ext cx="457200" cy="457200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2186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A2A43"/>
                </a:solidFill>
                <a:latin typeface="Segoe UI Semibol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19125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Modela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5112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escenarios y drivers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68512" y="3694176"/>
            <a:ext cx="32004" cy="457200"/>
          </a:xfrm>
          <a:prstGeom prst="rect">
            <a:avLst/>
          </a:prstGeom>
          <a:solidFill>
            <a:srgbClr val="2A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58200" y="4151376"/>
            <a:ext cx="457200" cy="457200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8200" y="41513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A2A43"/>
                </a:solidFill>
                <a:latin typeface="Segoe UI Semibold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41239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Colabora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4439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entre áreas y responsables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68512" y="4626864"/>
            <a:ext cx="32004" cy="457200"/>
          </a:xfrm>
          <a:prstGeom prst="rect">
            <a:avLst/>
          </a:prstGeom>
          <a:solidFill>
            <a:srgbClr val="2A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58200" y="5084064"/>
            <a:ext cx="457200" cy="457200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50840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A2A43"/>
                </a:solidFill>
                <a:latin typeface="Segoe UI Semibold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505663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Decide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3766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9CBDA"/>
                </a:solidFill>
                <a:latin typeface="Segoe UI"/>
              </a:rPr>
              <a:t>con previsiones fiables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A92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E7A92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28016" cy="566928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6EC7"/>
                </a:solidFill>
                <a:latin typeface="Segoe UI Semibold"/>
              </a:rPr>
              <a:t>FUNCIONALIDAD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A3E"/>
                </a:solidFill>
                <a:latin typeface="Segoe UI Semibold"/>
              </a:rPr>
              <a:t>Capacidades clave de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B6B7B"/>
                </a:solidFill>
                <a:latin typeface="Segoe UI"/>
              </a:rPr>
              <a:t>Un conjunto de herramientas diseñadas para automatizar y enriquecer el proceso de planificación.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3502152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9728" cy="1783080"/>
          </a:xfrm>
          <a:prstGeom prst="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441448"/>
            <a:ext cx="566928" cy="566928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441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59736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A3E"/>
                </a:solidFill>
                <a:latin typeface="Segoe UI Semibold"/>
              </a:rPr>
              <a:t>Modelos multidimensionales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00400"/>
            <a:ext cx="2907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Cuentas, tiempo, versiones y dimensiones de negocio en un único modelo.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2148840"/>
            <a:ext cx="3502152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07992" y="2148840"/>
            <a:ext cx="109728" cy="1783080"/>
          </a:xfrm>
          <a:prstGeom prst="rect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28032" y="2441448"/>
            <a:ext cx="566928" cy="566928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441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552" y="2459736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A3E"/>
                </a:solidFill>
                <a:latin typeface="Segoe UI Semibold"/>
              </a:rPr>
              <a:t>Data 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3200400"/>
            <a:ext cx="2907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Automatizan cálculos, copias de versiones y distribuciones complejas.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38744" y="2148840"/>
            <a:ext cx="3502152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38744" y="2148840"/>
            <a:ext cx="109728" cy="1783080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58784" y="2441448"/>
            <a:ext cx="566928" cy="566928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2441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459736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A3E"/>
                </a:solidFill>
                <a:latin typeface="Segoe UI Semibold"/>
              </a:rPr>
              <a:t>Value Driver Trees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3200400"/>
            <a:ext cx="2907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Simulación visual del impacto de los inductores clave del negocio.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133088"/>
            <a:ext cx="3502152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133088"/>
            <a:ext cx="109728" cy="1783080"/>
          </a:xfrm>
          <a:prstGeom prst="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7280" y="4425696"/>
            <a:ext cx="566928" cy="566928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425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443984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A3E"/>
                </a:solidFill>
                <a:latin typeface="Segoe UI Semibold"/>
              </a:rPr>
              <a:t>Versiones y escenarios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84648"/>
            <a:ext cx="2907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Compara Actual, Budget y Forecast; simula hipótesis 'what-if'.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07992" y="4133088"/>
            <a:ext cx="3502152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07992" y="4133088"/>
            <a:ext cx="109728" cy="1783080"/>
          </a:xfrm>
          <a:prstGeom prst="rect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8032" y="4425696"/>
            <a:ext cx="566928" cy="566928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8032" y="4425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4443984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A3E"/>
                </a:solidFill>
                <a:latin typeface="Segoe UI Semibold"/>
              </a:rPr>
              <a:t>Allocations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8032" y="5184648"/>
            <a:ext cx="2907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Reparte costes e ingresos según reglas y criterios de asignación.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38744" y="4133088"/>
            <a:ext cx="3502152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38744" y="4133088"/>
            <a:ext cx="109728" cy="1783080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8784" y="4425696"/>
            <a:ext cx="566928" cy="566928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4425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4" y="4443984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A3E"/>
                </a:solidFill>
                <a:latin typeface="Segoe UI Semibold"/>
              </a:rPr>
              <a:t>Predictive Planning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58784" y="5184648"/>
            <a:ext cx="29077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Genera previsiones automáticas con machine learning integrado.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CAD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A9CAD"/>
                </a:solidFill>
                <a:latin typeface="Segoe UI Semibold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28016" cy="566928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6EC7"/>
                </a:solidFill>
                <a:latin typeface="Segoe UI Semibold"/>
              </a:rPr>
              <a:t>PROCESO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A3E"/>
                </a:solidFill>
                <a:latin typeface="Segoe UI Semibold"/>
              </a:rPr>
              <a:t>El ciclo de planificación en SAC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B6B7B"/>
                </a:solidFill>
                <a:latin typeface="Segoe UI"/>
              </a:rPr>
              <a:t>Un flujo continuo y cerrado que conecta el análisis del pasado con la decisión sobre el futuro.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874519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777240" y="2468880"/>
            <a:ext cx="1874519" cy="640080"/>
          </a:xfrm>
          <a:prstGeom prst="round2Same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57299" y="2724912"/>
            <a:ext cx="914400" cy="914400"/>
          </a:xfrm>
          <a:prstGeom prst="ellipse">
            <a:avLst/>
          </a:prstGeom>
          <a:solidFill>
            <a:srgbClr val="0A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7299" y="27249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49040"/>
            <a:ext cx="1691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Integrar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4206240"/>
            <a:ext cx="15453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Conectar datos reales de SAP y de terceros.</a:t>
            </a:r>
          </a:p>
        </p:txBody>
      </p:sp>
      <p:sp>
        <p:nvSpPr>
          <p:cNvPr id="12" name="Chevron 11"/>
          <p:cNvSpPr/>
          <p:nvPr/>
        </p:nvSpPr>
        <p:spPr>
          <a:xfrm>
            <a:off x="2670047" y="3520440"/>
            <a:ext cx="278893" cy="365760"/>
          </a:xfrm>
          <a:prstGeom prst="chevron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67228" y="2468880"/>
            <a:ext cx="1874519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2967228" y="2468880"/>
            <a:ext cx="1874519" cy="640080"/>
          </a:xfrm>
          <a:prstGeom prst="round2SameRect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47287" y="2724912"/>
            <a:ext cx="914400" cy="914400"/>
          </a:xfrm>
          <a:prstGeom prst="ellipse">
            <a:avLst/>
          </a:prstGeom>
          <a:solidFill>
            <a:srgbClr val="0A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7287" y="27249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8668" y="3749040"/>
            <a:ext cx="1691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Modelar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1820" y="4206240"/>
            <a:ext cx="15453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Definir dimensiones, versiones y reglas de cálculo.</a:t>
            </a:r>
          </a:p>
        </p:txBody>
      </p:sp>
      <p:sp>
        <p:nvSpPr>
          <p:cNvPr id="19" name="Chevron 18"/>
          <p:cNvSpPr/>
          <p:nvPr/>
        </p:nvSpPr>
        <p:spPr>
          <a:xfrm>
            <a:off x="4860035" y="3520440"/>
            <a:ext cx="278893" cy="365760"/>
          </a:xfrm>
          <a:prstGeom prst="chevron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57216" y="2468880"/>
            <a:ext cx="1874519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5157216" y="2468880"/>
            <a:ext cx="1874519" cy="640080"/>
          </a:xfrm>
          <a:prstGeom prst="round2Same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7276" y="2724912"/>
            <a:ext cx="914400" cy="914400"/>
          </a:xfrm>
          <a:prstGeom prst="ellipse">
            <a:avLst/>
          </a:prstGeom>
          <a:solidFill>
            <a:srgbClr val="0A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37276" y="27249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3749040"/>
            <a:ext cx="1691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Planificar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206240"/>
            <a:ext cx="15453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Presupuestar y proyectar de forma colaborativa.</a:t>
            </a:r>
          </a:p>
        </p:txBody>
      </p:sp>
      <p:sp>
        <p:nvSpPr>
          <p:cNvPr id="26" name="Chevron 25"/>
          <p:cNvSpPr/>
          <p:nvPr/>
        </p:nvSpPr>
        <p:spPr>
          <a:xfrm>
            <a:off x="7050023" y="3520440"/>
            <a:ext cx="278893" cy="365760"/>
          </a:xfrm>
          <a:prstGeom prst="chevron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47204" y="2468880"/>
            <a:ext cx="1874519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7347204" y="2468880"/>
            <a:ext cx="1874519" cy="640080"/>
          </a:xfrm>
          <a:prstGeom prst="round2Same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827264" y="2724912"/>
            <a:ext cx="914400" cy="914400"/>
          </a:xfrm>
          <a:prstGeom prst="ellipse">
            <a:avLst/>
          </a:prstGeom>
          <a:solidFill>
            <a:srgbClr val="0A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7264" y="27249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8644" y="3749040"/>
            <a:ext cx="1691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Simular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1796" y="4206240"/>
            <a:ext cx="15453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Evaluar escenarios y análisis 'what-if'.</a:t>
            </a:r>
          </a:p>
        </p:txBody>
      </p:sp>
      <p:sp>
        <p:nvSpPr>
          <p:cNvPr id="33" name="Chevron 32"/>
          <p:cNvSpPr/>
          <p:nvPr/>
        </p:nvSpPr>
        <p:spPr>
          <a:xfrm>
            <a:off x="9240011" y="3520440"/>
            <a:ext cx="278893" cy="365760"/>
          </a:xfrm>
          <a:prstGeom prst="chevron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537193" y="2468880"/>
            <a:ext cx="1874519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9537193" y="2468880"/>
            <a:ext cx="1874519" cy="640080"/>
          </a:xfrm>
          <a:prstGeom prst="round2SameRect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017252" y="2724912"/>
            <a:ext cx="914400" cy="914400"/>
          </a:xfrm>
          <a:prstGeom prst="ellipse">
            <a:avLst/>
          </a:prstGeom>
          <a:solidFill>
            <a:srgbClr val="0A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17252" y="27249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8633" y="3749040"/>
            <a:ext cx="1691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A3E"/>
                </a:solidFill>
                <a:latin typeface="Segoe UI Semibold"/>
              </a:rPr>
              <a:t>Analizar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01785" y="4206240"/>
            <a:ext cx="15453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Comparar plan vs. real y medir desviaciones.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solidFill>
            <a:srgbClr val="0A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41264"/>
            <a:ext cx="10241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B241"/>
                </a:solidFill>
                <a:latin typeface="Segoe UI Semibold"/>
              </a:rPr>
              <a:t>↻ 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Proceso cíclico y continuo: </a:t>
            </a:r>
            <a:r>
              <a:rPr sz="1350" b="0">
                <a:solidFill>
                  <a:srgbClr val="C7D6E3"/>
                </a:solidFill>
                <a:latin typeface="Segoe UI"/>
              </a:rPr>
              <a:t>los resultados del análisis retroalimentan el siguiente ciclo de planificación.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CAD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A9CAD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28016" cy="566928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6EC7"/>
                </a:solidFill>
                <a:latin typeface="Segoe UI Semibold"/>
              </a:rPr>
              <a:t>APLICACIÓN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A3E"/>
                </a:solidFill>
                <a:latin typeface="Segoe UI Semibold"/>
              </a:rPr>
              <a:t>Casos de uso de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B6B7B"/>
                </a:solidFill>
                <a:latin typeface="Segoe UI"/>
              </a:rPr>
              <a:t>La planificación se extiende a todas las áreas de la organización sobre un mismo modelo integrado.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3502152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777240" y="2148840"/>
            <a:ext cx="3502152" cy="868680"/>
          </a:xfrm>
          <a:prstGeom prst="round2SameRect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286207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Finanzas (FP&amp;A)</a:t>
            </a:r>
          </a:p>
        </p:txBody>
      </p:sp>
      <p:sp>
        <p:nvSpPr>
          <p:cNvPr id="9" name="Oval 8"/>
          <p:cNvSpPr/>
          <p:nvPr/>
        </p:nvSpPr>
        <p:spPr>
          <a:xfrm>
            <a:off x="1124712" y="3328416"/>
            <a:ext cx="128016" cy="128016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3246120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Presupuesto anual y rolling forecast</a:t>
            </a:r>
          </a:p>
        </p:txBody>
      </p:sp>
      <p:sp>
        <p:nvSpPr>
          <p:cNvPr id="11" name="Oval 10"/>
          <p:cNvSpPr/>
          <p:nvPr/>
        </p:nvSpPr>
        <p:spPr>
          <a:xfrm>
            <a:off x="1124712" y="4169664"/>
            <a:ext cx="128016" cy="128016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4087368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Estados financieros integrados (P&amp;L, balance, cash-flow)</a:t>
            </a:r>
          </a:p>
        </p:txBody>
      </p:sp>
      <p:sp>
        <p:nvSpPr>
          <p:cNvPr id="13" name="Oval 12"/>
          <p:cNvSpPr/>
          <p:nvPr/>
        </p:nvSpPr>
        <p:spPr>
          <a:xfrm>
            <a:off x="1124712" y="5010912"/>
            <a:ext cx="128016" cy="128016"/>
          </a:xfrm>
          <a:prstGeom prst="ellipse">
            <a:avLst/>
          </a:prstGeom>
          <a:solidFill>
            <a:srgbClr val="00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9032" y="4928616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Consolidación y análisis de desviaciones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07992" y="2148840"/>
            <a:ext cx="3502152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507992" y="2148840"/>
            <a:ext cx="3502152" cy="868680"/>
          </a:xfrm>
          <a:prstGeom prst="round2SameRect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2" y="2148840"/>
            <a:ext cx="286207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Ventas e Ingresos</a:t>
            </a:r>
          </a:p>
        </p:txBody>
      </p:sp>
      <p:sp>
        <p:nvSpPr>
          <p:cNvPr id="18" name="Oval 17"/>
          <p:cNvSpPr/>
          <p:nvPr/>
        </p:nvSpPr>
        <p:spPr>
          <a:xfrm>
            <a:off x="4855464" y="3328416"/>
            <a:ext cx="128016" cy="128016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9784" y="3246120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Planificación comercial y de cuotas</a:t>
            </a:r>
          </a:p>
        </p:txBody>
      </p:sp>
      <p:sp>
        <p:nvSpPr>
          <p:cNvPr id="20" name="Oval 19"/>
          <p:cNvSpPr/>
          <p:nvPr/>
        </p:nvSpPr>
        <p:spPr>
          <a:xfrm>
            <a:off x="4855464" y="4169664"/>
            <a:ext cx="128016" cy="128016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9784" y="4087368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Previsión de demanda por producto y región</a:t>
            </a:r>
          </a:p>
        </p:txBody>
      </p:sp>
      <p:sp>
        <p:nvSpPr>
          <p:cNvPr id="22" name="Oval 21"/>
          <p:cNvSpPr/>
          <p:nvPr/>
        </p:nvSpPr>
        <p:spPr>
          <a:xfrm>
            <a:off x="4855464" y="5010912"/>
            <a:ext cx="128016" cy="128016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9784" y="4928616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Simulación de precios y márgenes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38744" y="2148840"/>
            <a:ext cx="3502152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8238744" y="2148840"/>
            <a:ext cx="3502152" cy="868680"/>
          </a:xfrm>
          <a:prstGeom prst="round2Same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2148840"/>
            <a:ext cx="286207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Recursos Humanos</a:t>
            </a:r>
          </a:p>
        </p:txBody>
      </p:sp>
      <p:sp>
        <p:nvSpPr>
          <p:cNvPr id="27" name="Oval 26"/>
          <p:cNvSpPr/>
          <p:nvPr/>
        </p:nvSpPr>
        <p:spPr>
          <a:xfrm>
            <a:off x="8586216" y="3328416"/>
            <a:ext cx="128016" cy="128016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0536" y="3246120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Planificación de plantilla y costes laborales</a:t>
            </a:r>
          </a:p>
        </p:txBody>
      </p:sp>
      <p:sp>
        <p:nvSpPr>
          <p:cNvPr id="29" name="Oval 28"/>
          <p:cNvSpPr/>
          <p:nvPr/>
        </p:nvSpPr>
        <p:spPr>
          <a:xfrm>
            <a:off x="8586216" y="4169664"/>
            <a:ext cx="128016" cy="128016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0536" y="4087368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Escenarios de contratación y retribución</a:t>
            </a:r>
          </a:p>
        </p:txBody>
      </p:sp>
      <p:sp>
        <p:nvSpPr>
          <p:cNvPr id="31" name="Oval 30"/>
          <p:cNvSpPr/>
          <p:nvPr/>
        </p:nvSpPr>
        <p:spPr>
          <a:xfrm>
            <a:off x="8586216" y="5010912"/>
            <a:ext cx="128016" cy="128016"/>
          </a:xfrm>
          <a:prstGeom prst="ellipse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0536" y="4928616"/>
            <a:ext cx="2587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32A3E"/>
                </a:solidFill>
                <a:latin typeface="Segoe UI"/>
              </a:rPr>
              <a:t>Alineación de capacidad con la demanda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CAD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A9CAD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28016" cy="566928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6EC7"/>
                </a:solidFill>
                <a:latin typeface="Segoe UI Semibold"/>
              </a:rPr>
              <a:t>VALOR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A3E"/>
                </a:solidFill>
                <a:latin typeface="Segoe UI Semibold"/>
              </a:rPr>
              <a:t>Beneficios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B6B7B"/>
                </a:solidFill>
                <a:latin typeface="Segoe UI"/>
              </a:rPr>
              <a:t>Por qué las organizaciones eligen SAP Analytics Cloud para su planificación.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87752" cy="1554480"/>
          </a:xfrm>
          <a:prstGeom prst="roundRect">
            <a:avLst/>
          </a:prstGeom>
          <a:solidFill>
            <a:srgbClr val="006EC7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1 </a:t>
            </a:r>
            <a:r>
              <a:rPr sz="1600" b="0">
                <a:solidFill>
                  <a:srgbClr val="DDE7F0"/>
                </a:solidFill>
                <a:latin typeface="Segoe UI Light"/>
              </a:rPr>
              <a:t>plataforma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2039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Segoe UI"/>
              </a:rPr>
              <a:t>Analítica y planificación unificadas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48840"/>
            <a:ext cx="2587752" cy="1554480"/>
          </a:xfrm>
          <a:prstGeom prst="roundRect">
            <a:avLst/>
          </a:prstGeom>
          <a:solidFill>
            <a:srgbClr val="0FA9B0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286000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+ </a:t>
            </a:r>
            <a:r>
              <a:rPr sz="1600" b="0">
                <a:solidFill>
                  <a:srgbClr val="DDE7F0"/>
                </a:solidFill>
                <a:latin typeface="Segoe UI Light"/>
              </a:rPr>
              <a:t>colaboración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3063240"/>
            <a:ext cx="2039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Segoe UI"/>
              </a:rPr>
              <a:t>Áreas y responsables trabajando juntos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2587752" cy="1554480"/>
          </a:xfrm>
          <a:prstGeom prst="roundRect">
            <a:avLst/>
          </a:prstGeom>
          <a:solidFill>
            <a:srgbClr val="F5B241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86000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&lt;&gt; </a:t>
            </a:r>
            <a:r>
              <a:rPr sz="1600" b="0">
                <a:solidFill>
                  <a:srgbClr val="DDE7F0"/>
                </a:solidFill>
                <a:latin typeface="Segoe UI Light"/>
              </a:rPr>
              <a:t>agilidad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2039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Segoe UI"/>
              </a:rPr>
              <a:t>Del forecast anual al continuo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148840"/>
            <a:ext cx="2587752" cy="1554480"/>
          </a:xfrm>
          <a:prstGeom prst="roundRect">
            <a:avLst/>
          </a:prstGeom>
          <a:solidFill>
            <a:srgbClr val="0A2A43"/>
          </a:solidFill>
          <a:ln>
            <a:noFill/>
          </a:ln>
          <a:effectLst/>
          <a:effectLst>
            <a:outerShdw blurRad="90000" dist="40000" dir="5400000" rotWithShape="0">
              <a:srgbClr val="0A2A4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2286000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AI </a:t>
            </a:r>
            <a:r>
              <a:rPr sz="1600" b="0">
                <a:solidFill>
                  <a:srgbClr val="DDE7F0"/>
                </a:solidFill>
                <a:latin typeface="Segoe UI Light"/>
              </a:rPr>
              <a:t>inteligencia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063240"/>
            <a:ext cx="2039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Segoe UI"/>
              </a:rPr>
              <a:t>Predicciones con machine learning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0873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32A3E"/>
                </a:solidFill>
                <a:latin typeface="Segoe UI Semibold"/>
              </a:rPr>
              <a:t>Una sola fuente de la verdad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165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Todos planifican sobre los mismos datos gobernados.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4114800"/>
            <a:ext cx="457200" cy="45720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114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0873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32A3E"/>
                </a:solidFill>
                <a:latin typeface="Segoe UI Semibold"/>
              </a:rPr>
              <a:t>Ciclos más rápidos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4165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Automatización de cálculos y forecasts recurrentes.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5010912"/>
            <a:ext cx="457200" cy="45720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109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983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32A3E"/>
                </a:solidFill>
                <a:latin typeface="Segoe UI Semibold"/>
              </a:rPr>
              <a:t>Mejores decisiones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31266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Escenarios, simulaciones y predicción integrados.</a:t>
            </a:r>
          </a:p>
        </p:txBody>
      </p:sp>
      <p:sp>
        <p:nvSpPr>
          <p:cNvPr id="30" name="Oval 29"/>
          <p:cNvSpPr/>
          <p:nvPr/>
        </p:nvSpPr>
        <p:spPr>
          <a:xfrm>
            <a:off x="6217920" y="5010912"/>
            <a:ext cx="457200" cy="457200"/>
          </a:xfrm>
          <a:prstGeom prst="ellipse">
            <a:avLst/>
          </a:prstGeom>
          <a:solidFill>
            <a:srgbClr val="0FA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50109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983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32A3E"/>
                </a:solidFill>
                <a:latin typeface="Segoe UI Semibold"/>
              </a:rPr>
              <a:t>Escalable en la nube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31266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Segoe UI"/>
              </a:rPr>
              <a:t>Sin infraestructura; se adapta al crecimiento.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CAD"/>
                </a:solidFill>
                <a:latin typeface="Segoe UI"/>
              </a:rPr>
              <a:t>SAP Analytics Cloud  ·  Planning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4190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A9C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914400" y="4480560"/>
            <a:ext cx="14630400" cy="3657600"/>
          </a:xfrm>
          <a:prstGeom prst="parallelogram">
            <a:avLst/>
          </a:prstGeom>
          <a:solidFill>
            <a:srgbClr val="0C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108960" cy="3108960"/>
          </a:xfrm>
          <a:prstGeom prst="ellipse">
            <a:avLst/>
          </a:prstGeom>
          <a:solidFill>
            <a:srgbClr val="0F3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146304" cy="914400"/>
          </a:xfrm>
          <a:prstGeom prst="rect">
            <a:avLst/>
          </a:prstGeom>
          <a:solidFill>
            <a:srgbClr val="F5B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A9B0"/>
                </a:solidFill>
                <a:latin typeface="Segoe UI Semibold"/>
              </a:rPr>
              <a:t>EN RESUMEN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51460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Planificar el futuro,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0">
                <a:solidFill>
                  <a:srgbClr val="F5B241"/>
                </a:solidFill>
                <a:latin typeface="Segoe UI Light"/>
              </a:rPr>
              <a:t>con los datos del presente.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297680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7D6E3"/>
                </a:solidFill>
                <a:latin typeface="Segoe UI"/>
              </a:rPr>
              <a:t>SAP Analytics Cloud Planning unifica análisis y planificación en una sola plataforma en la nube: colaborativa, inteligente y conectada.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852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¿Preguntas?  </a:t>
            </a:r>
            <a:r>
              <a:rPr sz="1400" b="0">
                <a:solidFill>
                  <a:srgbClr val="8A9CAD"/>
                </a:solidFill>
                <a:latin typeface="Segoe UI"/>
              </a:rPr>
              <a:t>Gracias por su atención.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