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4297680"/>
            <a:ext cx="14630400" cy="3657600"/>
          </a:xfrm>
          <a:prstGeom prst="parallelogram">
            <a:avLst/>
          </a:prstGeom>
          <a:solidFill>
            <a:srgbClr val="0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188720"/>
            <a:ext cx="3291840" cy="3291840"/>
          </a:xfrm>
          <a:prstGeom prst="ellipse">
            <a:avLst/>
          </a:prstGeom>
          <a:solidFill>
            <a:srgbClr val="0F3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480560"/>
            <a:ext cx="2194560" cy="2194560"/>
          </a:xfrm>
          <a:prstGeom prst="ellipse">
            <a:avLst/>
          </a:prstGeom>
          <a:solidFill>
            <a:srgbClr val="1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146304" cy="822960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14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A9B0"/>
                </a:solidFill>
                <a:latin typeface="Segoe UI Semibold"/>
              </a:rPr>
              <a:t>PLANIFICACIÓN PARA LA TOMA DE DECISIONES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9784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 Semibold"/>
              </a:rPr>
              <a:t>SAP Analytics Cloud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5B241"/>
                </a:solidFill>
                <a:latin typeface="Segoe UI Light"/>
              </a:rPr>
              <a:t>El futuro del negocio, planificado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70332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6E3"/>
                </a:solidFill>
                <a:latin typeface="Segoe UI"/>
              </a:rPr>
              <a:t>Una plataforma para planificar, anticipar y decidir con datos fiables. Menos hojas de cálculo, más visión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3856" y="5212080"/>
            <a:ext cx="1828800" cy="475488"/>
          </a:xfrm>
          <a:prstGeom prst="roundRect">
            <a:avLst/>
          </a:prstGeom>
          <a:noFill/>
          <a:ln w="15875">
            <a:solidFill>
              <a:srgbClr val="0F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521208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Visión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212080"/>
            <a:ext cx="1828800" cy="475488"/>
          </a:xfrm>
          <a:prstGeom prst="roundRect">
            <a:avLst/>
          </a:prstGeom>
          <a:noFill/>
          <a:ln w="15875">
            <a:solidFill>
              <a:srgbClr val="0F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521208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7216" y="5212080"/>
            <a:ext cx="1828800" cy="475488"/>
          </a:xfrm>
          <a:prstGeom prst="roundRect">
            <a:avLst/>
          </a:prstGeom>
          <a:noFill/>
          <a:ln w="15875">
            <a:solidFill>
              <a:srgbClr val="0F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521208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Agilidad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6080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CAD"/>
                </a:solidFill>
                <a:latin typeface="Segoe UI"/>
              </a:rPr>
              <a:t>Sesión para el equipo directivo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" cy="640080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A9B0"/>
                </a:solidFill>
                <a:latin typeface="Segoe UI Semibold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4300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Recorrido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9CBDA"/>
                </a:solidFill>
                <a:latin typeface="Segoe UI"/>
              </a:rPr>
              <a:t>Del problema que vivimos hoy al valor que aporta al negocio. Sin tecnicismos.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868680"/>
            <a:ext cx="7223760" cy="804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1728" y="996696"/>
            <a:ext cx="548640" cy="548640"/>
          </a:xfrm>
          <a:prstGeom prst="round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9966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9875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El reto que tenemos hoy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3258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Por qué planificar nos cuesta tanto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783080"/>
            <a:ext cx="7223760" cy="804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1728" y="1911096"/>
            <a:ext cx="548640" cy="548640"/>
          </a:xfrm>
          <a:prstGeom prst="round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9110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9019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¿Qué es SAP Analytics Cloud?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2402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Una única plataforma, explicada simple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697480"/>
            <a:ext cx="7223760" cy="804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81728" y="2825496"/>
            <a:ext cx="548640" cy="548640"/>
          </a:xfrm>
          <a:prstGeom prst="round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28254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8163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Qué aporta a la dirección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1546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Planificar mirando al futuro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611880"/>
            <a:ext cx="7223760" cy="804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81728" y="3739896"/>
            <a:ext cx="548640" cy="548640"/>
          </a:xfrm>
          <a:prstGeom prst="round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7398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7307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Qué podremos hacer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40690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En lenguaje de negocio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526280"/>
            <a:ext cx="7223760" cy="804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81728" y="4654296"/>
            <a:ext cx="548640" cy="548640"/>
          </a:xfrm>
          <a:prstGeom prst="round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6542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6451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Antes y después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49834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El cambio, de un vistazo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5440680"/>
            <a:ext cx="7223760" cy="804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81728" y="5568696"/>
            <a:ext cx="548640" cy="548640"/>
          </a:xfrm>
          <a:prstGeom prst="round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55686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55595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Impacto y beneficios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58978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Valor para cada área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CAD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A9CAD"/>
                </a:solidFill>
                <a:latin typeface="Segoe UI Semi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6EC7"/>
                </a:solidFill>
                <a:latin typeface="Segoe UI Semibold"/>
              </a:rPr>
              <a:t>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A3E"/>
                </a:solidFill>
                <a:latin typeface="Segoe UI Semibold"/>
              </a:rPr>
              <a:t>El reto que tenemos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Planificar el negocio sigue siendo lento, disperso y poco fiable. Estos son los síntomas habituales: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624328" cy="2880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777240" y="2148840"/>
            <a:ext cx="2624328" cy="109728"/>
          </a:xfrm>
          <a:prstGeom prst="round2SameRect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468880"/>
            <a:ext cx="640080" cy="640080"/>
          </a:xfrm>
          <a:prstGeom prst="ellipse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984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Demasiado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1984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Decenas de hojas sueltas, versiones que no cuadran y errores manuales.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1024" y="2148840"/>
            <a:ext cx="2624328" cy="2880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3621024" y="2148840"/>
            <a:ext cx="2624328" cy="109728"/>
          </a:xfrm>
          <a:prstGeom prst="round2SameRect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1064" y="2468880"/>
            <a:ext cx="640080" cy="640080"/>
          </a:xfrm>
          <a:prstGeom prst="ellipse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4" y="24688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4" y="3291840"/>
            <a:ext cx="1984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Miramos al retrovisor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3794760"/>
            <a:ext cx="1984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Analizamos el pasado, pero cuesta anticipar lo que viene.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4808" y="2148840"/>
            <a:ext cx="2624328" cy="2880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464808" y="2148840"/>
            <a:ext cx="2624328" cy="109728"/>
          </a:xfrm>
          <a:prstGeom prst="round2SameRect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84848" y="2468880"/>
            <a:ext cx="640080" cy="640080"/>
          </a:xfrm>
          <a:prstGeom prst="ellipse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24688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291840"/>
            <a:ext cx="1984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Cada área, su versión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794760"/>
            <a:ext cx="1984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Finanzas, ventas y RR. HH. trabajan con números distintos.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08592" y="2148840"/>
            <a:ext cx="2624328" cy="2880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9308592" y="2148840"/>
            <a:ext cx="2624328" cy="109728"/>
          </a:xfrm>
          <a:prstGeom prst="round2SameRect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28632" y="2468880"/>
            <a:ext cx="640080" cy="640080"/>
          </a:xfrm>
          <a:prstGeom prst="ellipse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632" y="24688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3291840"/>
            <a:ext cx="1984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A3E"/>
                </a:solidFill>
                <a:latin typeface="Segoe UI Semibold"/>
              </a:rPr>
              <a:t>Ciclos lentos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3794760"/>
            <a:ext cx="1984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Cerrar un presupuesto lleva semanas de idas y venidas.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349240"/>
            <a:ext cx="10634472" cy="685800"/>
          </a:xfrm>
          <a:prstGeom prst="round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449824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B241"/>
                </a:solidFill>
                <a:latin typeface="Segoe UI Semibold"/>
              </a:rPr>
              <a:t>La consecuencia:  </a:t>
            </a:r>
            <a:r>
              <a:rPr sz="1400" b="0">
                <a:solidFill>
                  <a:srgbClr val="DDE7F0"/>
                </a:solidFill>
                <a:latin typeface="Segoe UI"/>
              </a:rPr>
              <a:t>decidimos tarde y con información en la que no siempre confiamos.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CAD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A9CAD"/>
                </a:solidFill>
                <a:latin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6EC7"/>
                </a:solidFill>
                <a:latin typeface="Segoe UI Semibold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A3E"/>
                </a:solidFill>
                <a:latin typeface="Segoe UI Semibold"/>
              </a:rPr>
              <a:t>¿Qué es SAP Analytics Cloud?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>
                <a:solidFill>
                  <a:srgbClr val="132A3E"/>
                </a:solidFill>
                <a:latin typeface="Segoe UI"/>
              </a:rPr>
              <a:t>Es una plataforma en la nube de SAP que reúne, en un mismo sitio, todo lo que la dirección necesita para entender y planificar el negocio.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132A3E"/>
                </a:solidFill>
                <a:latin typeface="Segoe UI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Piénselo como un “cuadro de mando único”: en lugar de pedir informes a distintas áreas y juntarlos en Excel, todos trabajan sobre los mismos números, siempre actualizados.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91640"/>
            <a:ext cx="4572000" cy="4160520"/>
          </a:xfrm>
          <a:prstGeom prst="roundRect">
            <a:avLst/>
          </a:prstGeom>
          <a:solidFill>
            <a:srgbClr val="0A2A43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903720" y="1691640"/>
            <a:ext cx="4572000" cy="109728"/>
          </a:xfrm>
          <a:prstGeom prst="round2Same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9659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A9B0"/>
                </a:solidFill>
                <a:latin typeface="Segoe UI Semibold"/>
              </a:rPr>
              <a:t>EN POCAS PALABRAS</a:t>
            </a:r>
          </a:p>
        </p:txBody>
      </p:sp>
      <p:sp>
        <p:nvSpPr>
          <p:cNvPr id="9" name="Oval 8"/>
          <p:cNvSpPr/>
          <p:nvPr/>
        </p:nvSpPr>
        <p:spPr>
          <a:xfrm>
            <a:off x="7269480" y="2423160"/>
            <a:ext cx="365760" cy="365760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4231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0487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Todo en un solo lugar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1576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Informes, presupuestos y previsiones juntos.</a:t>
            </a:r>
          </a:p>
        </p:txBody>
      </p:sp>
      <p:sp>
        <p:nvSpPr>
          <p:cNvPr id="13" name="Oval 12"/>
          <p:cNvSpPr/>
          <p:nvPr/>
        </p:nvSpPr>
        <p:spPr>
          <a:xfrm>
            <a:off x="7269480" y="3291840"/>
            <a:ext cx="365760" cy="365760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291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7355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Siempre en la nube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8444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Accesible y actualizado, sin instalar nada.</a:t>
            </a:r>
          </a:p>
        </p:txBody>
      </p:sp>
      <p:sp>
        <p:nvSpPr>
          <p:cNvPr id="17" name="Oval 16"/>
          <p:cNvSpPr/>
          <p:nvPr/>
        </p:nvSpPr>
        <p:spPr>
          <a:xfrm>
            <a:off x="7269480" y="4160520"/>
            <a:ext cx="365760" cy="365760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14223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Para toda la empresa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5312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Las áreas comparten los mismos datos.</a:t>
            </a:r>
          </a:p>
        </p:txBody>
      </p:sp>
      <p:sp>
        <p:nvSpPr>
          <p:cNvPr id="21" name="Oval 20"/>
          <p:cNvSpPr/>
          <p:nvPr/>
        </p:nvSpPr>
        <p:spPr>
          <a:xfrm>
            <a:off x="7269480" y="5029200"/>
            <a:ext cx="365760" cy="365760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50292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01091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Fácil de usar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2180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Pensada para el negocio, no solo para técnicos.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92040"/>
            <a:ext cx="56692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92040"/>
            <a:ext cx="109728" cy="960120"/>
          </a:xfrm>
          <a:prstGeom prst="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02920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006EC7"/>
                </a:solidFill>
                <a:latin typeface="Segoe UI Semibold"/>
              </a:rPr>
              <a:t>Una única versión de la verdad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Se acabó el “¿con qué número nos quedamos?”.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CAD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A9CAD"/>
                </a:solidFill>
                <a:latin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0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54864" cy="6858000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A9B0"/>
                </a:solidFill>
                <a:latin typeface="Segoe UI Semibold"/>
              </a:rPr>
              <a:t>EL FOCO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Planificar mirando al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DDE7F0"/>
                </a:solidFill>
                <a:latin typeface="Segoe UI"/>
              </a:rPr>
              <a:t>Dentro de la plataforma, Planning es la parte que ayuda a la dirección a preparar el futuro: presupuestos, previsiones y planes de las distintas áreas, en un mismo lugar y siempre conectados con la realidad del negocio.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A9B0"/>
                </a:solidFill>
                <a:latin typeface="Segoe UI Semibold"/>
              </a:rPr>
              <a:t>QUÉ SIGNIFICA PARA LA DIRECCIÓN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7647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Anticiparse, no reaccionar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78224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9CBDA"/>
                </a:solidFill>
                <a:latin typeface="Segoe UI"/>
              </a:rPr>
              <a:t>Ver a dónde va el negocio antes de que ocurra.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53128"/>
            <a:ext cx="384048" cy="384048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531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Adiós a los Excel dispersos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3659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9CBDA"/>
                </a:solidFill>
                <a:latin typeface="Segoe UI"/>
              </a:rPr>
              <a:t>Un plan compartido, ordenado y fiable.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11496"/>
            <a:ext cx="384048" cy="384048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11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93208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Todos remando a la vez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9496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9CBDA"/>
                </a:solidFill>
                <a:latin typeface="Segoe UI"/>
              </a:rPr>
              <a:t>Áreas alineadas sobre los mismos objetivos.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769864"/>
            <a:ext cx="384048" cy="384048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98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51576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Del dato a la decisión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053328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9CBDA"/>
                </a:solidFill>
                <a:latin typeface="Segoe UI"/>
              </a:rPr>
              <a:t>La información lleva directamente a la acción.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17830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B241"/>
                </a:solidFill>
                <a:latin typeface="Segoe UI Semibold"/>
              </a:rPr>
              <a:t>LA IDEA, EN 4 PASOS</a:t>
            </a:r>
          </a:p>
        </p:txBody>
      </p:sp>
      <p:sp>
        <p:nvSpPr>
          <p:cNvPr id="26" name="Oval 25"/>
          <p:cNvSpPr/>
          <p:nvPr/>
        </p:nvSpPr>
        <p:spPr>
          <a:xfrm>
            <a:off x="8458200" y="2286000"/>
            <a:ext cx="457200" cy="457200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A2A43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2585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Reunir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5786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los datos del negocio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2761488"/>
            <a:ext cx="32004" cy="457200"/>
          </a:xfrm>
          <a:prstGeom prst="rect">
            <a:avLst/>
          </a:prstGeom>
          <a:solidFill>
            <a:srgbClr val="2A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58200" y="3218688"/>
            <a:ext cx="457200" cy="457200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2186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A2A43"/>
                </a:solidFill>
                <a:latin typeface="Segoe UI Semibol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9125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Planear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5112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objetivos y previsiones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68512" y="3694176"/>
            <a:ext cx="32004" cy="457200"/>
          </a:xfrm>
          <a:prstGeom prst="rect">
            <a:avLst/>
          </a:prstGeom>
          <a:solidFill>
            <a:srgbClr val="2A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58200" y="4151376"/>
            <a:ext cx="457200" cy="457200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1513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A2A43"/>
                </a:solidFill>
                <a:latin typeface="Segoe UI Semibol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12394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Colaborar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44398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entre todas las áreas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4626864"/>
            <a:ext cx="32004" cy="457200"/>
          </a:xfrm>
          <a:prstGeom prst="rect">
            <a:avLst/>
          </a:prstGeom>
          <a:solidFill>
            <a:srgbClr val="2A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58200" y="5084064"/>
            <a:ext cx="457200" cy="457200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50840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A2A43"/>
                </a:solidFill>
                <a:latin typeface="Segoe UI Semibold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505663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Decidir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3766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9CBDA"/>
                </a:solidFill>
                <a:latin typeface="Segoe UI"/>
              </a:rPr>
              <a:t>con confianza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A92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E7A92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6EC7"/>
                </a:solidFill>
                <a:latin typeface="Segoe UI Semibold"/>
              </a:rPr>
              <a:t>EN LA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A3E"/>
                </a:solidFill>
                <a:latin typeface="Segoe UI Semibold"/>
              </a:rPr>
              <a:t>Qué podremos hacer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Capacidades explicadas en lenguaje de negocio, sin entrar en la tecnología que hay detrás.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5021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9728" cy="1783080"/>
          </a:xfrm>
          <a:prstGeom prst="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441448"/>
            <a:ext cx="566928" cy="566928"/>
          </a:xfrm>
          <a:prstGeom prst="ellipse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59736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A3E"/>
                </a:solidFill>
                <a:latin typeface="Segoe UI Semibold"/>
              </a:rPr>
              <a:t>Planificar en un solo lugar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2907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Presupuestos y previsiones ordenados, sin hojas sueltas.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148840"/>
            <a:ext cx="35021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2148840"/>
            <a:ext cx="109728" cy="1783080"/>
          </a:xfrm>
          <a:prstGeom prst="rect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28032" y="2441448"/>
            <a:ext cx="566928" cy="566928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441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459736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A3E"/>
                </a:solidFill>
                <a:latin typeface="Segoe UI Semibold"/>
              </a:rPr>
              <a:t>Escenarios «¿y si...?»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200400"/>
            <a:ext cx="2907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Simular decisiones antes de tomarlas, en minutos.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2148840"/>
            <a:ext cx="35021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2148840"/>
            <a:ext cx="109728" cy="1783080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58784" y="2441448"/>
            <a:ext cx="566928" cy="566928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2441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459736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A3E"/>
                </a:solidFill>
                <a:latin typeface="Segoe UI Semibold"/>
              </a:rPr>
              <a:t>Plan frente a realidad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3200400"/>
            <a:ext cx="2907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Comparar lo previsto con lo real, al instante.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33088"/>
            <a:ext cx="35021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133088"/>
            <a:ext cx="109728" cy="1783080"/>
          </a:xfrm>
          <a:prstGeom prst="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" y="4425696"/>
            <a:ext cx="566928" cy="566928"/>
          </a:xfrm>
          <a:prstGeom prst="ellipse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4256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443984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A3E"/>
                </a:solidFill>
                <a:latin typeface="Segoe UI Semibold"/>
              </a:rPr>
              <a:t>Previsiones con 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84648"/>
            <a:ext cx="2907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Proyecciones automáticas, sin fórmulas complicadas.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4133088"/>
            <a:ext cx="35021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07992" y="4133088"/>
            <a:ext cx="109728" cy="1783080"/>
          </a:xfrm>
          <a:prstGeom prst="rect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28032" y="4425696"/>
            <a:ext cx="566928" cy="566928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44256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9552" y="4443984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A3E"/>
                </a:solidFill>
                <a:latin typeface="Segoe UI Semibold"/>
              </a:rPr>
              <a:t>Colaborar entre áreas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5184648"/>
            <a:ext cx="2907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Finanzas, ventas y RR. HH. sobre los mismos números.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38744" y="4133088"/>
            <a:ext cx="3502152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38744" y="4133088"/>
            <a:ext cx="109728" cy="1783080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58784" y="4425696"/>
            <a:ext cx="566928" cy="566928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784" y="44256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4443984"/>
            <a:ext cx="22677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A3E"/>
                </a:solidFill>
                <a:latin typeface="Segoe UI Semibold"/>
              </a:rPr>
              <a:t>Información clara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58784" y="5184648"/>
            <a:ext cx="2907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Cuadros de mando visuales y en tiempo real para decidir.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CAD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A9CAD"/>
                </a:solidFill>
                <a:latin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6EC7"/>
                </a:solidFill>
                <a:latin typeface="Segoe UI Semibold"/>
              </a:rPr>
              <a:t>EL CAMBIO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A3E"/>
                </a:solidFill>
                <a:latin typeface="Segoe UI Semibold"/>
              </a:rPr>
              <a:t>Antes y después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Cómo cambia el día a día de la planificación al pasar a una única plataforma.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120640" cy="37490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777240" y="2103120"/>
            <a:ext cx="5120640" cy="868680"/>
          </a:xfrm>
          <a:prstGeom prst="round2SameRect">
            <a:avLst/>
          </a:prstGeom>
          <a:solidFill>
            <a:srgbClr val="C2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4389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✕  </a:t>
            </a:r>
            <a:r>
              <a:rPr sz="1700" b="1">
                <a:solidFill>
                  <a:srgbClr val="FFFFFF"/>
                </a:solidFill>
                <a:latin typeface="Segoe UI Semibold"/>
              </a:rPr>
              <a:t>Hoy, con hojas de cálculo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26B5A"/>
                </a:solidFill>
                <a:latin typeface="Segoe UI Semibold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6440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32A3E"/>
                </a:solidFill>
                <a:latin typeface="Segoe UI"/>
              </a:rPr>
              <a:t>Datos dispersos y desactualizados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26B5A"/>
                </a:solidFill>
                <a:latin typeface="Segoe UI Semibold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5876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32A3E"/>
                </a:solidFill>
                <a:latin typeface="Segoe UI"/>
              </a:rPr>
              <a:t>Semanas para cerrar un presupuesto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348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26B5A"/>
                </a:solidFill>
                <a:latin typeface="Segoe UI Semibold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5312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32A3E"/>
                </a:solidFill>
                <a:latin typeface="Segoe UI"/>
              </a:rPr>
              <a:t>Difícil simular escenarios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292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26B5A"/>
                </a:solidFill>
                <a:latin typeface="Segoe UI Semibold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4748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32A3E"/>
                </a:solidFill>
                <a:latin typeface="Segoe UI"/>
              </a:rPr>
              <a:t>Cada área con su propia versión</a:t>
            </a:r>
          </a:p>
        </p:txBody>
      </p:sp>
      <p:sp>
        <p:nvSpPr>
          <p:cNvPr id="17" name="Oval 16"/>
          <p:cNvSpPr/>
          <p:nvPr/>
        </p:nvSpPr>
        <p:spPr>
          <a:xfrm>
            <a:off x="5870448" y="3703320"/>
            <a:ext cx="685800" cy="685800"/>
          </a:xfrm>
          <a:prstGeom prst="ellipse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37033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5B241"/>
                </a:solidFill>
                <a:latin typeface="Segoe UI Semibol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965960"/>
            <a:ext cx="5120640" cy="4023360"/>
          </a:xfrm>
          <a:prstGeom prst="roundRect">
            <a:avLst/>
          </a:prstGeom>
          <a:solidFill>
            <a:srgbClr val="0A2A43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629400" y="1965960"/>
            <a:ext cx="5120640" cy="868680"/>
          </a:xfrm>
          <a:prstGeom prst="round2Same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965960"/>
            <a:ext cx="4389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✔  </a:t>
            </a:r>
            <a:r>
              <a:rPr sz="1700" b="1">
                <a:solidFill>
                  <a:srgbClr val="FFFFFF"/>
                </a:solidFill>
                <a:latin typeface="Segoe UI Semibold"/>
              </a:rPr>
              <a:t>Con SAP Analytics Cloud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3154680"/>
            <a:ext cx="310896" cy="31089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1546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136392"/>
            <a:ext cx="3977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Una única fuente de datos fiable</a:t>
            </a:r>
          </a:p>
        </p:txBody>
      </p:sp>
      <p:sp>
        <p:nvSpPr>
          <p:cNvPr id="25" name="Oval 24"/>
          <p:cNvSpPr/>
          <p:nvPr/>
        </p:nvSpPr>
        <p:spPr>
          <a:xfrm>
            <a:off x="6995160" y="3813048"/>
            <a:ext cx="310896" cy="31089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8130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794760"/>
            <a:ext cx="3977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Ciclos de días, no de semanas</a:t>
            </a:r>
          </a:p>
        </p:txBody>
      </p:sp>
      <p:sp>
        <p:nvSpPr>
          <p:cNvPr id="28" name="Oval 27"/>
          <p:cNvSpPr/>
          <p:nvPr/>
        </p:nvSpPr>
        <p:spPr>
          <a:xfrm>
            <a:off x="6995160" y="4471416"/>
            <a:ext cx="310896" cy="31089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44714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453128"/>
            <a:ext cx="3977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Escenarios en minutos</a:t>
            </a:r>
          </a:p>
        </p:txBody>
      </p:sp>
      <p:sp>
        <p:nvSpPr>
          <p:cNvPr id="31" name="Oval 30"/>
          <p:cNvSpPr/>
          <p:nvPr/>
        </p:nvSpPr>
        <p:spPr>
          <a:xfrm>
            <a:off x="6995160" y="5129784"/>
            <a:ext cx="310896" cy="31089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51297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111496"/>
            <a:ext cx="3977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Toda la organización alineada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CAD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A9CAD"/>
                </a:solidFill>
                <a:latin typeface="Segoe UI Semi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6EC7"/>
                </a:solidFill>
                <a:latin typeface="Segoe UI Semibold"/>
              </a:rPr>
              <a:t>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A3E"/>
                </a:solidFill>
                <a:latin typeface="Segoe UI Semibold"/>
              </a:rPr>
              <a:t>Valor para cada área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La misma plataforma da respuesta a las necesidades de las principales áreas de la empresa.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502152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777240" y="2148840"/>
            <a:ext cx="3502152" cy="868680"/>
          </a:xfrm>
          <a:prstGeom prst="round2SameRect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286207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Finanzas</a:t>
            </a:r>
          </a:p>
        </p:txBody>
      </p:sp>
      <p:sp>
        <p:nvSpPr>
          <p:cNvPr id="9" name="Oval 8"/>
          <p:cNvSpPr/>
          <p:nvPr/>
        </p:nvSpPr>
        <p:spPr>
          <a:xfrm>
            <a:off x="1124712" y="3328416"/>
            <a:ext cx="128016" cy="128016"/>
          </a:xfrm>
          <a:prstGeom prst="ellipse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3246120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Presupuesto anual y revisiones periódicas</a:t>
            </a:r>
          </a:p>
        </p:txBody>
      </p:sp>
      <p:sp>
        <p:nvSpPr>
          <p:cNvPr id="11" name="Oval 10"/>
          <p:cNvSpPr/>
          <p:nvPr/>
        </p:nvSpPr>
        <p:spPr>
          <a:xfrm>
            <a:off x="1124712" y="4169664"/>
            <a:ext cx="128016" cy="128016"/>
          </a:xfrm>
          <a:prstGeom prst="ellipse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4087368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Visión completa de resultados y tesorería</a:t>
            </a:r>
          </a:p>
        </p:txBody>
      </p:sp>
      <p:sp>
        <p:nvSpPr>
          <p:cNvPr id="13" name="Oval 12"/>
          <p:cNvSpPr/>
          <p:nvPr/>
        </p:nvSpPr>
        <p:spPr>
          <a:xfrm>
            <a:off x="1124712" y="5010912"/>
            <a:ext cx="128016" cy="128016"/>
          </a:xfrm>
          <a:prstGeom prst="ellipse">
            <a:avLst/>
          </a:prstGeom>
          <a:solidFill>
            <a:srgbClr val="00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4928616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Control claro de desviaciones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2148840"/>
            <a:ext cx="3502152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4507992" y="2148840"/>
            <a:ext cx="3502152" cy="868680"/>
          </a:xfrm>
          <a:prstGeom prst="round2SameRect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2148840"/>
            <a:ext cx="286207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Ventas</a:t>
            </a:r>
          </a:p>
        </p:txBody>
      </p:sp>
      <p:sp>
        <p:nvSpPr>
          <p:cNvPr id="18" name="Oval 17"/>
          <p:cNvSpPr/>
          <p:nvPr/>
        </p:nvSpPr>
        <p:spPr>
          <a:xfrm>
            <a:off x="4855464" y="3328416"/>
            <a:ext cx="128016" cy="128016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4" y="3246120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Objetivos comerciales por equipo y zona</a:t>
            </a:r>
          </a:p>
        </p:txBody>
      </p:sp>
      <p:sp>
        <p:nvSpPr>
          <p:cNvPr id="20" name="Oval 19"/>
          <p:cNvSpPr/>
          <p:nvPr/>
        </p:nvSpPr>
        <p:spPr>
          <a:xfrm>
            <a:off x="4855464" y="4169664"/>
            <a:ext cx="128016" cy="128016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4087368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Previsión de ventas y demanda</a:t>
            </a:r>
          </a:p>
        </p:txBody>
      </p:sp>
      <p:sp>
        <p:nvSpPr>
          <p:cNvPr id="22" name="Oval 21"/>
          <p:cNvSpPr/>
          <p:nvPr/>
        </p:nvSpPr>
        <p:spPr>
          <a:xfrm>
            <a:off x="4855464" y="5010912"/>
            <a:ext cx="128016" cy="128016"/>
          </a:xfrm>
          <a:prstGeom prst="ellipse">
            <a:avLst/>
          </a:prstGeom>
          <a:solidFill>
            <a:srgbClr val="0F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784" y="4928616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Impacto de precios en el margen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38744" y="2148840"/>
            <a:ext cx="3502152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8238744" y="2148840"/>
            <a:ext cx="3502152" cy="868680"/>
          </a:xfrm>
          <a:prstGeom prst="round2Same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2148840"/>
            <a:ext cx="286207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Recursos Humanos</a:t>
            </a:r>
          </a:p>
        </p:txBody>
      </p:sp>
      <p:sp>
        <p:nvSpPr>
          <p:cNvPr id="27" name="Oval 26"/>
          <p:cNvSpPr/>
          <p:nvPr/>
        </p:nvSpPr>
        <p:spPr>
          <a:xfrm>
            <a:off x="8586216" y="3328416"/>
            <a:ext cx="128016" cy="128016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0536" y="3246120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Planificación de plantilla y costes</a:t>
            </a:r>
          </a:p>
        </p:txBody>
      </p:sp>
      <p:sp>
        <p:nvSpPr>
          <p:cNvPr id="29" name="Oval 28"/>
          <p:cNvSpPr/>
          <p:nvPr/>
        </p:nvSpPr>
        <p:spPr>
          <a:xfrm>
            <a:off x="8586216" y="4169664"/>
            <a:ext cx="128016" cy="128016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0536" y="4087368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Escenarios de contratación</a:t>
            </a:r>
          </a:p>
        </p:txBody>
      </p:sp>
      <p:sp>
        <p:nvSpPr>
          <p:cNvPr id="31" name="Oval 30"/>
          <p:cNvSpPr/>
          <p:nvPr/>
        </p:nvSpPr>
        <p:spPr>
          <a:xfrm>
            <a:off x="8586216" y="5010912"/>
            <a:ext cx="128016" cy="128016"/>
          </a:xfrm>
          <a:prstGeom prst="ellipse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0536" y="4928616"/>
            <a:ext cx="2587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2A3E"/>
                </a:solidFill>
                <a:latin typeface="Segoe UI"/>
              </a:rPr>
              <a:t>Capacidad alineada con la demanda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CAD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A9CAD"/>
                </a:solidFill>
                <a:latin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6EC7"/>
                </a:solidFill>
                <a:latin typeface="Segoe UI Semibold"/>
              </a:rPr>
              <a:t>VALOR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A3E"/>
                </a:solidFill>
                <a:latin typeface="Segoe UI Semibold"/>
              </a:rPr>
              <a:t>El impacto para la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Lo que la dirección gana al adoptar una planificación conectada e inteligente.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587752" cy="1554480"/>
          </a:xfrm>
          <a:prstGeom prst="roundRect">
            <a:avLst/>
          </a:prstGeom>
          <a:solidFill>
            <a:srgbClr val="006EC7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+  </a:t>
            </a:r>
            <a:r>
              <a:rPr sz="1600" b="0">
                <a:solidFill>
                  <a:srgbClr val="DDE7F0"/>
                </a:solidFill>
                <a:latin typeface="Segoe UI Light"/>
              </a:rPr>
              <a:t>rapidez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Segoe UI"/>
              </a:rPr>
              <a:t>Ciclos de días, no de semanas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587752" cy="1554480"/>
          </a:xfrm>
          <a:prstGeom prst="roundRect">
            <a:avLst/>
          </a:prstGeom>
          <a:solidFill>
            <a:srgbClr val="0FA9B0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2860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✔  </a:t>
            </a:r>
            <a:r>
              <a:rPr sz="1600" b="0">
                <a:solidFill>
                  <a:srgbClr val="DDE7F0"/>
                </a:solidFill>
                <a:latin typeface="Segoe UI Light"/>
              </a:rPr>
              <a:t>confianza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06324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Segoe UI"/>
              </a:rPr>
              <a:t>Una sola versión de los números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2587752" cy="1554480"/>
          </a:xfrm>
          <a:prstGeom prst="roundRect">
            <a:avLst/>
          </a:prstGeom>
          <a:solidFill>
            <a:srgbClr val="F5B241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↗  </a:t>
            </a:r>
            <a:r>
              <a:rPr sz="1600" b="0">
                <a:solidFill>
                  <a:srgbClr val="DDE7F0"/>
                </a:solidFill>
                <a:latin typeface="Segoe UI Light"/>
              </a:rPr>
              <a:t>anticipación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Segoe UI"/>
              </a:rPr>
              <a:t>Ver el futuro antes de que llegue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148840"/>
            <a:ext cx="2587752" cy="1554480"/>
          </a:xfrm>
          <a:prstGeom prst="roundRect">
            <a:avLst/>
          </a:prstGeom>
          <a:solidFill>
            <a:srgbClr val="0A2A43"/>
          </a:solidFill>
          <a:ln>
            <a:noFill/>
          </a:ln>
          <a:effectLst/>
          <a:effectLst>
            <a:outerShdw blurRad="90000" dist="40000" dir="5400000" rotWithShape="0">
              <a:srgbClr val="0A2A4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⧉  </a:t>
            </a:r>
            <a:r>
              <a:rPr sz="1600" b="0">
                <a:solidFill>
                  <a:srgbClr val="DDE7F0"/>
                </a:solidFill>
                <a:latin typeface="Segoe UI Light"/>
              </a:rPr>
              <a:t>alineación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06324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Segoe UI"/>
              </a:rPr>
              <a:t>Toda la empresa, un mismo plan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873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32A3E"/>
                </a:solidFill>
                <a:latin typeface="Segoe UI Semibold"/>
              </a:rPr>
              <a:t>Decisiones más rápidas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165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Menos tiempo recopilando datos, más tiempo decidiendo.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4114800"/>
            <a:ext cx="457200" cy="4572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114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0873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32A3E"/>
                </a:solidFill>
                <a:latin typeface="Segoe UI Semibold"/>
              </a:rPr>
              <a:t>Menos riesgo de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165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Adiós a los fallos manuales de las hojas de cálculo.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010912"/>
            <a:ext cx="457200" cy="4572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109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9834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32A3E"/>
                </a:solidFill>
                <a:latin typeface="Segoe UI Semibold"/>
              </a:rPr>
              <a:t>Mejor visión del futuro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126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Escenarios y previsiones siempre a mano.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5010912"/>
            <a:ext cx="457200" cy="4572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0109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9834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32A3E"/>
                </a:solidFill>
                <a:latin typeface="Segoe UI Semibold"/>
              </a:rPr>
              <a:t>Crece con la empresa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126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En la nube, sin grandes inversiones iniciales.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CAD"/>
                </a:solidFill>
                <a:latin typeface="Segoe UI"/>
              </a:rPr>
              <a:t>SAP Analytics Cloud  ·  Planning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A9C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4480560"/>
            <a:ext cx="14630400" cy="3657600"/>
          </a:xfrm>
          <a:prstGeom prst="parallelogram">
            <a:avLst/>
          </a:prstGeom>
          <a:solidFill>
            <a:srgbClr val="0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108960" cy="3108960"/>
          </a:xfrm>
          <a:prstGeom prst="ellipse">
            <a:avLst/>
          </a:prstGeom>
          <a:solidFill>
            <a:srgbClr val="0F3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46304" cy="914400"/>
          </a:xfrm>
          <a:prstGeom prst="rect">
            <a:avLst/>
          </a:prstGeom>
          <a:solidFill>
            <a:srgbClr val="F5B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A9B0"/>
                </a:solidFill>
                <a:latin typeface="Segoe UI Semibold"/>
              </a:rPr>
              <a:t>EN RESUMEN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146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Planificar el futuro,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0">
                <a:solidFill>
                  <a:srgbClr val="F5B241"/>
                </a:solidFill>
                <a:latin typeface="Segoe UI Light"/>
              </a:rPr>
              <a:t>con datos en los que confiar.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9768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6E3"/>
                </a:solidFill>
                <a:latin typeface="Segoe UI"/>
              </a:rPr>
              <a:t>SAP Analytics Cloud reúne análisis y planificación en una sola plataforma: más ágil, más fiable y alineada con toda la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52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¿Hablamos?  </a:t>
            </a:r>
            <a:r>
              <a:rPr sz="1400" b="0">
                <a:solidFill>
                  <a:srgbClr val="8A9CAD"/>
                </a:solidFill>
                <a:latin typeface="Segoe UI"/>
              </a:rPr>
              <a:t>Gracias por su atención.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